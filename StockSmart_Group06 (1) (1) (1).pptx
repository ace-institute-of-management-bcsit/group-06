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Arial Italics" panose="020B0604020202020204" charset="0"/>
      <p:regular r:id="rId19"/>
    </p:embeddedFont>
    <p:embeddedFont>
      <p:font typeface="Arimo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CC8F2-9B15-45AC-BD86-6966D59D65ED}" v="2" dt="2026-05-03T17:38:1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7157" y="4291489"/>
            <a:ext cx="10870749" cy="868673"/>
            <a:chOff x="0" y="0"/>
            <a:chExt cx="14494332" cy="1158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4332" cy="1158224"/>
            </a:xfrm>
            <a:custGeom>
              <a:avLst/>
              <a:gdLst/>
              <a:ahLst/>
              <a:cxnLst/>
              <a:rect l="l" t="t" r="r" b="b"/>
              <a:pathLst>
                <a:path w="14494332" h="1158224">
                  <a:moveTo>
                    <a:pt x="0" y="0"/>
                  </a:moveTo>
                  <a:lnTo>
                    <a:pt x="14494332" y="0"/>
                  </a:lnTo>
                  <a:lnTo>
                    <a:pt x="14494332" y="1158224"/>
                  </a:lnTo>
                  <a:lnTo>
                    <a:pt x="0" y="115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0728" b="-18695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494332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StockSmart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97289" y="6007886"/>
            <a:ext cx="12817945" cy="635055"/>
            <a:chOff x="0" y="0"/>
            <a:chExt cx="17090593" cy="8467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90594" cy="846746"/>
            </a:xfrm>
            <a:custGeom>
              <a:avLst/>
              <a:gdLst/>
              <a:ahLst/>
              <a:cxnLst/>
              <a:rect l="l" t="t" r="r" b="b"/>
              <a:pathLst>
                <a:path w="17090594" h="846746">
                  <a:moveTo>
                    <a:pt x="0" y="0"/>
                  </a:moveTo>
                  <a:lnTo>
                    <a:pt x="17090594" y="0"/>
                  </a:lnTo>
                  <a:lnTo>
                    <a:pt x="17090594" y="846746"/>
                  </a:lnTo>
                  <a:lnTo>
                    <a:pt x="0" y="846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539" r="15191" b="-28353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090593" cy="8657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Diya Manandhar, Shreyas Regmi, Avash Shrestha, Krishala Pokhrel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90277" y="7490909"/>
            <a:ext cx="10870749" cy="609273"/>
            <a:chOff x="0" y="0"/>
            <a:chExt cx="14494332" cy="8123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4332" cy="812369"/>
            </a:xfrm>
            <a:custGeom>
              <a:avLst/>
              <a:gdLst/>
              <a:ahLst/>
              <a:cxnLst/>
              <a:rect l="l" t="t" r="r" b="b"/>
              <a:pathLst>
                <a:path w="14494332" h="812369">
                  <a:moveTo>
                    <a:pt x="0" y="0"/>
                  </a:moveTo>
                  <a:lnTo>
                    <a:pt x="14494332" y="0"/>
                  </a:lnTo>
                  <a:lnTo>
                    <a:pt x="14494332" y="812369"/>
                  </a:lnTo>
                  <a:lnTo>
                    <a:pt x="0" y="8123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5537" b="-29976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494332" cy="83141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Under Supervision of Mr. Sanju Shrestha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258897" y="0"/>
            <a:ext cx="18546897" cy="1009690"/>
          </a:xfrm>
          <a:custGeom>
            <a:avLst/>
            <a:gdLst/>
            <a:ahLst/>
            <a:cxnLst/>
            <a:rect l="l" t="t" r="r" b="b"/>
            <a:pathLst>
              <a:path w="18546897" h="1009690">
                <a:moveTo>
                  <a:pt x="0" y="0"/>
                </a:moveTo>
                <a:lnTo>
                  <a:pt x="18546897" y="0"/>
                </a:lnTo>
                <a:lnTo>
                  <a:pt x="18546897" y="1009690"/>
                </a:lnTo>
                <a:lnTo>
                  <a:pt x="0" y="100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237" b="-4567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6690" y="9967855"/>
            <a:ext cx="18887417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61312" y="398426"/>
            <a:ext cx="14084160" cy="831880"/>
            <a:chOff x="0" y="0"/>
            <a:chExt cx="18778880" cy="11091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8880" cy="1109168"/>
            </a:xfrm>
            <a:custGeom>
              <a:avLst/>
              <a:gdLst/>
              <a:ahLst/>
              <a:cxnLst/>
              <a:rect l="l" t="t" r="r" b="b"/>
              <a:pathLst>
                <a:path w="18778880" h="1109168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9892" b="-27989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Presentation Outline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587684"/>
            <a:ext cx="4748613" cy="1308135"/>
            <a:chOff x="0" y="0"/>
            <a:chExt cx="1250663" cy="3445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10687" y="6886722"/>
            <a:ext cx="4748613" cy="1308135"/>
            <a:chOff x="0" y="0"/>
            <a:chExt cx="1250663" cy="3445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9694" y="6886722"/>
            <a:ext cx="4748613" cy="1308135"/>
            <a:chOff x="0" y="0"/>
            <a:chExt cx="1250663" cy="3445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69694" y="2587684"/>
            <a:ext cx="4748613" cy="1308135"/>
            <a:chOff x="0" y="0"/>
            <a:chExt cx="1250663" cy="3445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9694" y="4636302"/>
            <a:ext cx="4748613" cy="1308135"/>
            <a:chOff x="0" y="0"/>
            <a:chExt cx="1250663" cy="3445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6886722"/>
            <a:ext cx="4748613" cy="1308135"/>
            <a:chOff x="0" y="0"/>
            <a:chExt cx="1250663" cy="344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4636302"/>
            <a:ext cx="4748613" cy="1308135"/>
            <a:chOff x="0" y="0"/>
            <a:chExt cx="1250663" cy="344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10687" y="4636302"/>
            <a:ext cx="4748613" cy="1308135"/>
            <a:chOff x="0" y="0"/>
            <a:chExt cx="1250663" cy="3445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39262" y="2587684"/>
            <a:ext cx="4748613" cy="1308135"/>
            <a:chOff x="0" y="0"/>
            <a:chExt cx="1250663" cy="3445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0663" cy="344529"/>
            </a:xfrm>
            <a:custGeom>
              <a:avLst/>
              <a:gdLst/>
              <a:ahLst/>
              <a:cxnLst/>
              <a:rect l="l" t="t" r="r" b="b"/>
              <a:pathLst>
                <a:path w="1250663" h="344529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37247" y="3013152"/>
            <a:ext cx="453151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Introduction &amp; Motivation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69694" y="3013152"/>
            <a:ext cx="474861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89144" y="5061769"/>
            <a:ext cx="178921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9529" y="7093114"/>
            <a:ext cx="3448943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Comparison With Manual system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03392" y="5061769"/>
            <a:ext cx="344894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Methodology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37116" y="7312189"/>
            <a:ext cx="209326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2545" y="7312189"/>
            <a:ext cx="6008755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Gantt Chart &amp; Tech Stack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82451" y="5061769"/>
            <a:ext cx="344894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Objectives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59279" y="3013152"/>
            <a:ext cx="344894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Literature review</a:t>
            </a:r>
          </a:p>
        </p:txBody>
      </p:sp>
      <p:sp>
        <p:nvSpPr>
          <p:cNvPr id="42" name="Freeform 42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3" name="AutoShape 43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32737" y="230196"/>
            <a:ext cx="14084160" cy="2435126"/>
            <a:chOff x="0" y="0"/>
            <a:chExt cx="18778880" cy="32468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8880" cy="3246817"/>
            </a:xfrm>
            <a:custGeom>
              <a:avLst/>
              <a:gdLst/>
              <a:ahLst/>
              <a:cxnLst/>
              <a:rect l="l" t="t" r="r" b="b"/>
              <a:pathLst>
                <a:path w="18778880" h="3246817">
                  <a:moveTo>
                    <a:pt x="0" y="0"/>
                  </a:moveTo>
                  <a:lnTo>
                    <a:pt x="18778880" y="0"/>
                  </a:lnTo>
                  <a:lnTo>
                    <a:pt x="18778880" y="3246817"/>
                  </a:lnTo>
                  <a:lnTo>
                    <a:pt x="0" y="32468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5616" b="-29778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778880" cy="32754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1.INTRODUCTION &amp; MOTIVATION</a:t>
              </a: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0528784" y="1933616"/>
            <a:ext cx="7190308" cy="7534186"/>
          </a:xfrm>
          <a:custGeom>
            <a:avLst/>
            <a:gdLst/>
            <a:ahLst/>
            <a:cxnLst/>
            <a:rect l="l" t="t" r="r" b="b"/>
            <a:pathLst>
              <a:path w="7190308" h="7534186">
                <a:moveTo>
                  <a:pt x="0" y="0"/>
                </a:moveTo>
                <a:lnTo>
                  <a:pt x="7190307" y="0"/>
                </a:lnTo>
                <a:lnTo>
                  <a:pt x="7190307" y="7534186"/>
                </a:lnTo>
                <a:lnTo>
                  <a:pt x="0" y="753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18710" y="3521623"/>
            <a:ext cx="8995611" cy="3967553"/>
            <a:chOff x="0" y="0"/>
            <a:chExt cx="2369214" cy="10449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69214" cy="1044952"/>
            </a:xfrm>
            <a:custGeom>
              <a:avLst/>
              <a:gdLst/>
              <a:ahLst/>
              <a:cxnLst/>
              <a:rect l="l" t="t" r="r" b="b"/>
              <a:pathLst>
                <a:path w="2369214" h="1044952">
                  <a:moveTo>
                    <a:pt x="0" y="0"/>
                  </a:moveTo>
                  <a:lnTo>
                    <a:pt x="2369214" y="0"/>
                  </a:lnTo>
                  <a:lnTo>
                    <a:pt x="2369214" y="1044952"/>
                  </a:lnTo>
                  <a:lnTo>
                    <a:pt x="0" y="1044952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369214" cy="1054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8307" y="4848394"/>
            <a:ext cx="8376416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•Tracking goods from purchase through to sale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•Covers stock ordering, storage &amp; replenishment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•Core for shops, supermarkets &amp; warehouses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•Directly affects revenue and customer satisfaction</a:t>
            </a:r>
          </a:p>
          <a:p>
            <a:pPr algn="l">
              <a:lnSpc>
                <a:spcPts val="3456"/>
              </a:lnSpc>
            </a:pPr>
            <a:endParaRPr lang="en-US" sz="28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48637" y="4142627"/>
            <a:ext cx="573575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What is Inventory Management?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61312" y="535169"/>
            <a:ext cx="14084160" cy="1632942"/>
            <a:chOff x="0" y="0"/>
            <a:chExt cx="18778880" cy="21772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8880" cy="2177245"/>
            </a:xfrm>
            <a:custGeom>
              <a:avLst/>
              <a:gdLst/>
              <a:ahLst/>
              <a:cxnLst/>
              <a:rect l="l" t="t" r="r" b="b"/>
              <a:pathLst>
                <a:path w="18778880" h="2177245">
                  <a:moveTo>
                    <a:pt x="0" y="0"/>
                  </a:moveTo>
                  <a:lnTo>
                    <a:pt x="18778880" y="0"/>
                  </a:lnTo>
                  <a:lnTo>
                    <a:pt x="18778880" y="2177245"/>
                  </a:lnTo>
                  <a:lnTo>
                    <a:pt x="0" y="2177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037" b="-150162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778880" cy="22058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 &amp; Motivation (cont'd)</a:t>
              </a: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1312" y="2739611"/>
            <a:ext cx="8489266" cy="1478782"/>
            <a:chOff x="0" y="0"/>
            <a:chExt cx="2235856" cy="3894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856" cy="389473"/>
            </a:xfrm>
            <a:custGeom>
              <a:avLst/>
              <a:gdLst/>
              <a:ahLst/>
              <a:cxnLst/>
              <a:rect l="l" t="t" r="r" b="b"/>
              <a:pathLst>
                <a:path w="2235856" h="389473">
                  <a:moveTo>
                    <a:pt x="0" y="0"/>
                  </a:moveTo>
                  <a:lnTo>
                    <a:pt x="2235856" y="0"/>
                  </a:lnTo>
                  <a:lnTo>
                    <a:pt x="2235856" y="389473"/>
                  </a:lnTo>
                  <a:lnTo>
                    <a:pt x="0" y="389473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35856" cy="39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4664223"/>
            <a:ext cx="8650899" cy="1446678"/>
            <a:chOff x="0" y="0"/>
            <a:chExt cx="2278426" cy="3810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8426" cy="381018"/>
            </a:xfrm>
            <a:custGeom>
              <a:avLst/>
              <a:gdLst/>
              <a:ahLst/>
              <a:cxnLst/>
              <a:rect l="l" t="t" r="r" b="b"/>
              <a:pathLst>
                <a:path w="2278426" h="381018">
                  <a:moveTo>
                    <a:pt x="0" y="0"/>
                  </a:moveTo>
                  <a:lnTo>
                    <a:pt x="2278426" y="0"/>
                  </a:lnTo>
                  <a:lnTo>
                    <a:pt x="2278426" y="381018"/>
                  </a:lnTo>
                  <a:lnTo>
                    <a:pt x="0" y="38101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78426" cy="39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1312" y="4664223"/>
            <a:ext cx="8489266" cy="1446678"/>
            <a:chOff x="0" y="0"/>
            <a:chExt cx="2235856" cy="3810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5856" cy="381018"/>
            </a:xfrm>
            <a:custGeom>
              <a:avLst/>
              <a:gdLst/>
              <a:ahLst/>
              <a:cxnLst/>
              <a:rect l="l" t="t" r="r" b="b"/>
              <a:pathLst>
                <a:path w="2235856" h="381018">
                  <a:moveTo>
                    <a:pt x="0" y="0"/>
                  </a:moveTo>
                  <a:lnTo>
                    <a:pt x="2235856" y="0"/>
                  </a:lnTo>
                  <a:lnTo>
                    <a:pt x="2235856" y="381018"/>
                  </a:lnTo>
                  <a:lnTo>
                    <a:pt x="0" y="38101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235856" cy="39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2739611"/>
            <a:ext cx="8650899" cy="1478782"/>
            <a:chOff x="0" y="0"/>
            <a:chExt cx="2278426" cy="3894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8426" cy="389473"/>
            </a:xfrm>
            <a:custGeom>
              <a:avLst/>
              <a:gdLst/>
              <a:ahLst/>
              <a:cxnLst/>
              <a:rect l="l" t="t" r="r" b="b"/>
              <a:pathLst>
                <a:path w="2278426" h="389473">
                  <a:moveTo>
                    <a:pt x="0" y="0"/>
                  </a:moveTo>
                  <a:lnTo>
                    <a:pt x="2278426" y="0"/>
                  </a:lnTo>
                  <a:lnTo>
                    <a:pt x="2278426" y="389473"/>
                  </a:lnTo>
                  <a:lnTo>
                    <a:pt x="0" y="389473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278426" cy="398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85288" y="6634775"/>
            <a:ext cx="8490003" cy="3008111"/>
            <a:chOff x="0" y="0"/>
            <a:chExt cx="2236050" cy="7922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6050" cy="792260"/>
            </a:xfrm>
            <a:custGeom>
              <a:avLst/>
              <a:gdLst/>
              <a:ahLst/>
              <a:cxnLst/>
              <a:rect l="l" t="t" r="r" b="b"/>
              <a:pathLst>
                <a:path w="2236050" h="792260">
                  <a:moveTo>
                    <a:pt x="0" y="0"/>
                  </a:moveTo>
                  <a:lnTo>
                    <a:pt x="2236050" y="0"/>
                  </a:lnTo>
                  <a:lnTo>
                    <a:pt x="2236050" y="792260"/>
                  </a:lnTo>
                  <a:lnTo>
                    <a:pt x="0" y="792260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2236050" cy="801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1312" y="2050678"/>
            <a:ext cx="966230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 Are SMEs and What Do They Face?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9316" y="2894419"/>
            <a:ext cx="7353257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Small Shops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staff; rely on memory or paper logs</a:t>
            </a:r>
          </a:p>
          <a:p>
            <a:pPr algn="l">
              <a:lnSpc>
                <a:spcPts val="3456"/>
              </a:lnSpc>
            </a:pPr>
            <a:endParaRPr lang="en-US" sz="28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50904" y="2884894"/>
            <a:ext cx="8237091" cy="174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441" lvl="1" indent="-305720" algn="l">
              <a:lnSpc>
                <a:spcPts val="3398"/>
              </a:lnSpc>
              <a:buFont typeface="Arial"/>
              <a:buChar char="•"/>
            </a:pPr>
            <a:r>
              <a:rPr lang="en-US" sz="283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Warehouses</a:t>
            </a:r>
          </a:p>
          <a:p>
            <a:pPr algn="l">
              <a:lnSpc>
                <a:spcPts val="3398"/>
              </a:lnSpc>
            </a:pPr>
            <a:r>
              <a:rPr lang="en-US" sz="28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volumes; manual tracking causes costly errors</a:t>
            </a:r>
          </a:p>
          <a:p>
            <a:pPr algn="l">
              <a:lnSpc>
                <a:spcPts val="3398"/>
              </a:lnSpc>
            </a:pPr>
            <a:endParaRPr lang="en-US" sz="283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70224" y="4779507"/>
            <a:ext cx="9662302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Supermarkets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product variety; expiry tracking is critical</a:t>
            </a:r>
          </a:p>
          <a:p>
            <a:pPr algn="l">
              <a:lnSpc>
                <a:spcPts val="3456"/>
              </a:lnSpc>
            </a:pPr>
            <a:endParaRPr lang="en-US" sz="28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0" y="4769982"/>
            <a:ext cx="9508100" cy="8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961" lvl="1" indent="-305981" algn="l">
              <a:lnSpc>
                <a:spcPts val="3401"/>
              </a:lnSpc>
              <a:buFont typeface="Arial"/>
              <a:buChar char="•"/>
            </a:pPr>
            <a:r>
              <a:rPr lang="en-US" sz="283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Wholesalers</a:t>
            </a:r>
          </a:p>
          <a:p>
            <a:pPr algn="l">
              <a:lnSpc>
                <a:spcPts val="3401"/>
              </a:lnSpc>
            </a:pPr>
            <a:r>
              <a:rPr lang="en-US" sz="28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demand spikes lead to over/under-stocking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5945" y="7033931"/>
            <a:ext cx="8531572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288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StockSmart is the Answer:</a:t>
            </a:r>
          </a:p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system – one dashboard for all stock</a:t>
            </a:r>
          </a:p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updates – no delays or manual entry</a:t>
            </a:r>
          </a:p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Affordable and easy to learn</a:t>
            </a:r>
          </a:p>
          <a:p>
            <a:pPr marL="621886" lvl="1" indent="-310943" algn="l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specifically for SME workflows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AutoShape 28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61312" y="398426"/>
            <a:ext cx="14084160" cy="831880"/>
            <a:chOff x="0" y="0"/>
            <a:chExt cx="18778880" cy="11091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8880" cy="1109168"/>
            </a:xfrm>
            <a:custGeom>
              <a:avLst/>
              <a:gdLst/>
              <a:ahLst/>
              <a:cxnLst/>
              <a:rect l="l" t="t" r="r" b="b"/>
              <a:pathLst>
                <a:path w="18778880" h="1109168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9892" b="-27989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2.PROBLEM STATEMENT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4756" y="3064012"/>
            <a:ext cx="11098487" cy="5256603"/>
            <a:chOff x="0" y="0"/>
            <a:chExt cx="2923058" cy="13844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3058" cy="1384455"/>
            </a:xfrm>
            <a:custGeom>
              <a:avLst/>
              <a:gdLst/>
              <a:ahLst/>
              <a:cxnLst/>
              <a:rect l="l" t="t" r="r" b="b"/>
              <a:pathLst>
                <a:path w="2923058" h="1384455">
                  <a:moveTo>
                    <a:pt x="0" y="0"/>
                  </a:moveTo>
                  <a:lnTo>
                    <a:pt x="2923058" y="0"/>
                  </a:lnTo>
                  <a:lnTo>
                    <a:pt x="2923058" y="1384455"/>
                  </a:lnTo>
                  <a:lnTo>
                    <a:pt x="0" y="1384455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923058" cy="1393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64573" y="1998751"/>
            <a:ext cx="855885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Challenges Faced by SMEs Today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96776" y="3420381"/>
            <a:ext cx="11494457" cy="45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427" lvl="1" indent="-319713" algn="l">
              <a:lnSpc>
                <a:spcPts val="3554"/>
              </a:lnSpc>
              <a:buFont typeface="Arial"/>
              <a:buChar char="•"/>
            </a:pPr>
            <a:r>
              <a:rPr lang="en-US" sz="296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Stock Shortages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Unable to meet customer demand, resulting in revenue loss</a:t>
            </a:r>
          </a:p>
          <a:p>
            <a:pPr marL="639427" lvl="1" indent="-319713" algn="l">
              <a:lnSpc>
                <a:spcPts val="3554"/>
              </a:lnSpc>
              <a:buFont typeface="Arial"/>
              <a:buChar char="•"/>
            </a:pPr>
            <a:r>
              <a:rPr lang="en-US" sz="296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Overstocking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Excess inventory increases storage costs and blocks capital</a:t>
            </a:r>
          </a:p>
          <a:p>
            <a:pPr marL="639427" lvl="1" indent="-319713" algn="l">
              <a:lnSpc>
                <a:spcPts val="3554"/>
              </a:lnSpc>
              <a:buFont typeface="Arial"/>
              <a:buChar char="•"/>
            </a:pPr>
            <a:r>
              <a:rPr lang="en-US" sz="296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Expired Products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Lack of tracking leads to wastage and financial loss</a:t>
            </a:r>
          </a:p>
          <a:p>
            <a:pPr marL="639427" lvl="1" indent="-319713" algn="l">
              <a:lnSpc>
                <a:spcPts val="3554"/>
              </a:lnSpc>
              <a:buFont typeface="Arial"/>
              <a:buChar char="•"/>
            </a:pPr>
            <a:r>
              <a:rPr lang="en-US" sz="296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 Real-Time Visibility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Stock levels cannot be monitored instantly or accurately</a:t>
            </a:r>
          </a:p>
          <a:p>
            <a:pPr marL="639427" lvl="1" indent="-319713" algn="l">
              <a:lnSpc>
                <a:spcPts val="3554"/>
              </a:lnSpc>
              <a:buFont typeface="Arial"/>
              <a:buChar char="•"/>
            </a:pPr>
            <a:r>
              <a:rPr lang="en-US" sz="296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Manual Record Errors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Paper and spreadsheets increase chances of human mistakes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953" y="2447925"/>
            <a:ext cx="17495353" cy="546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a web-based system replacing error-prone spreadsheets with digital records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product tracking, sales management, and user management modules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Demonstrated improved inventory accuracy and reduced operational cost for SMEs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Developed and tested on a single SME — limited generalizability across sectors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the iterative waterfall model — less flexible for changing business requirements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include automated expiry alerts or demand forecasting functionality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30246" y="1417141"/>
            <a:ext cx="17934116" cy="2118717"/>
            <a:chOff x="0" y="0"/>
            <a:chExt cx="24398284" cy="28823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98284" cy="2882372"/>
            </a:xfrm>
            <a:custGeom>
              <a:avLst/>
              <a:gdLst/>
              <a:ahLst/>
              <a:cxnLst/>
              <a:rect l="l" t="t" r="r" b="b"/>
              <a:pathLst>
                <a:path w="24398284" h="2882372">
                  <a:moveTo>
                    <a:pt x="0" y="0"/>
                  </a:moveTo>
                  <a:lnTo>
                    <a:pt x="24398284" y="0"/>
                  </a:lnTo>
                  <a:lnTo>
                    <a:pt x="24398284" y="2882372"/>
                  </a:lnTo>
                  <a:lnTo>
                    <a:pt x="0" y="28823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7705" r="23031" b="-46187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4398284" cy="2910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Paper 1:Web-Based Inventory Platform for SMEs (Source: Agboola, Malgwi, Mahmud &amp; Oguntoye (2022))</a:t>
              </a:r>
            </a:p>
            <a:p>
              <a:pPr algn="l">
                <a:lnSpc>
                  <a:spcPts val="3840"/>
                </a:lnSpc>
              </a:pPr>
              <a:endParaRPr lang="en-US" sz="32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116953" y="6511460"/>
            <a:ext cx="17729259" cy="421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and ranks Critical Success Factors (CSFs) for ERP implementation in supply chains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ISM and MICMAC analysis to model the interdependence between CSFs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Confirms ERP plays a vital role in organizational growth and supply chain sustainability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ERP systems are extremely costly and complex — impractical for small businesses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implementation timelines and need for trained IT staff limit accessibility for SMEs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focuses on large organizations — findings do not fully translate to small retail shops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61312" y="398426"/>
            <a:ext cx="14203778" cy="831880"/>
            <a:chOff x="0" y="0"/>
            <a:chExt cx="18938370" cy="11091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938370" cy="1109168"/>
            </a:xfrm>
            <a:custGeom>
              <a:avLst/>
              <a:gdLst/>
              <a:ahLst/>
              <a:cxnLst/>
              <a:rect l="l" t="t" r="r" b="b"/>
              <a:pathLst>
                <a:path w="18938370" h="1109168">
                  <a:moveTo>
                    <a:pt x="0" y="0"/>
                  </a:moveTo>
                  <a:lnTo>
                    <a:pt x="18938370" y="0"/>
                  </a:lnTo>
                  <a:lnTo>
                    <a:pt x="1893837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9892" r="842" b="-27989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893837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3.LITERATURE REVIEW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1312" y="5743575"/>
            <a:ext cx="18003050" cy="1329299"/>
            <a:chOff x="0" y="0"/>
            <a:chExt cx="24004067" cy="17723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04067" cy="1772390"/>
            </a:xfrm>
            <a:custGeom>
              <a:avLst/>
              <a:gdLst/>
              <a:ahLst/>
              <a:cxnLst/>
              <a:rect l="l" t="t" r="r" b="b"/>
              <a:pathLst>
                <a:path w="24004067" h="1772390">
                  <a:moveTo>
                    <a:pt x="0" y="0"/>
                  </a:moveTo>
                  <a:lnTo>
                    <a:pt x="24004067" y="0"/>
                  </a:lnTo>
                  <a:lnTo>
                    <a:pt x="24004067" y="1772390"/>
                  </a:lnTo>
                  <a:lnTo>
                    <a:pt x="0" y="1772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5157" r="21767" b="-1377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4004067" cy="1800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Paper 2: ERP Implementation for Supply Chain Management (Source: Qureshi (2022))</a:t>
              </a:r>
            </a:p>
            <a:p>
              <a:pPr algn="l">
                <a:lnSpc>
                  <a:spcPts val="3840"/>
                </a:lnSpc>
              </a:pPr>
              <a:endParaRPr lang="en-US" sz="32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52400" y="5829300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-9525" y="150499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5167404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" y="6376608"/>
            <a:ext cx="17729259" cy="426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Machine learning-based inventory management system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forecasting (Prophet), pattern mining (Apriori), prediction (Random Forest)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Achieves high accuracy in demand prediction (~94%)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Requires large historical datasets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High computational complexity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Does not address expiry-date or batch-level tracking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45010" y="398426"/>
            <a:ext cx="14203778" cy="831880"/>
            <a:chOff x="0" y="0"/>
            <a:chExt cx="18938370" cy="11091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38370" cy="1109168"/>
            </a:xfrm>
            <a:custGeom>
              <a:avLst/>
              <a:gdLst/>
              <a:ahLst/>
              <a:cxnLst/>
              <a:rect l="l" t="t" r="r" b="b"/>
              <a:pathLst>
                <a:path w="18938370" h="1109168">
                  <a:moveTo>
                    <a:pt x="0" y="0"/>
                  </a:moveTo>
                  <a:lnTo>
                    <a:pt x="18938370" y="0"/>
                  </a:lnTo>
                  <a:lnTo>
                    <a:pt x="1893837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9892" r="842" b="-27989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93837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 (cont'd)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1312" y="5583060"/>
            <a:ext cx="18002971" cy="1147167"/>
            <a:chOff x="0" y="0"/>
            <a:chExt cx="24003961" cy="15295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03961" cy="1529548"/>
            </a:xfrm>
            <a:custGeom>
              <a:avLst/>
              <a:gdLst/>
              <a:ahLst/>
              <a:cxnLst/>
              <a:rect l="l" t="t" r="r" b="b"/>
              <a:pathLst>
                <a:path w="24003961" h="1529548">
                  <a:moveTo>
                    <a:pt x="0" y="0"/>
                  </a:moveTo>
                  <a:lnTo>
                    <a:pt x="24003961" y="0"/>
                  </a:lnTo>
                  <a:lnTo>
                    <a:pt x="24003961" y="1529548"/>
                  </a:lnTo>
                  <a:lnTo>
                    <a:pt x="0" y="1529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2967" r="21767" b="-17548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4003961" cy="1558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Paper 4: AI-Based Inventory System (Source: Abdul Majid K &amp; Kavyashree G.J (2025)</a:t>
              </a:r>
            </a:p>
            <a:p>
              <a:pPr algn="l">
                <a:lnSpc>
                  <a:spcPts val="3840"/>
                </a:lnSpc>
              </a:pPr>
              <a:endParaRPr lang="en-US" sz="32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1312" y="1460258"/>
            <a:ext cx="16897988" cy="1180450"/>
            <a:chOff x="0" y="0"/>
            <a:chExt cx="22530651" cy="1573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30651" cy="1573924"/>
            </a:xfrm>
            <a:custGeom>
              <a:avLst/>
              <a:gdLst/>
              <a:ahLst/>
              <a:cxnLst/>
              <a:rect l="l" t="t" r="r" b="b"/>
              <a:pathLst>
                <a:path w="22530651" h="1573924">
                  <a:moveTo>
                    <a:pt x="0" y="0"/>
                  </a:moveTo>
                  <a:lnTo>
                    <a:pt x="22530651" y="0"/>
                  </a:lnTo>
                  <a:lnTo>
                    <a:pt x="22530651" y="1573924"/>
                  </a:lnTo>
                  <a:lnTo>
                    <a:pt x="0" y="1573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7244" r="16651" b="-1677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2530651" cy="1602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Paper 3: IoT-Based Inventory System (Source: Ghulam Haider &amp; Edward Lucas (2024)</a:t>
              </a:r>
            </a:p>
            <a:p>
              <a:pPr algn="l">
                <a:lnSpc>
                  <a:spcPts val="3840"/>
                </a:lnSpc>
              </a:pPr>
              <a:endParaRPr lang="en-US" sz="32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" y="2109408"/>
            <a:ext cx="17729259" cy="421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IoT-based automated inventory tracking system</a:t>
            </a: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sensors for real-time stock monitoring</a:t>
            </a: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manual inventory effort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Requires IoT hardware (sensors/RFID)</a:t>
            </a: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 setup and maintenance cost</a:t>
            </a: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Technical complexity for SMEs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6730" lvl="1" indent="-253365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5509248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5167404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4364" y="398426"/>
            <a:ext cx="14084160" cy="831880"/>
            <a:chOff x="0" y="0"/>
            <a:chExt cx="18778880" cy="1109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8880" cy="1109168"/>
            </a:xfrm>
            <a:custGeom>
              <a:avLst/>
              <a:gdLst/>
              <a:ahLst/>
              <a:cxnLst/>
              <a:rect l="l" t="t" r="r" b="b"/>
              <a:pathLst>
                <a:path w="18778880" h="1109168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694" b="-29469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790975" y="5730333"/>
            <a:ext cx="8577205" cy="720947"/>
            <a:chOff x="0" y="0"/>
            <a:chExt cx="11436274" cy="9612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6278" cy="961260"/>
            </a:xfrm>
            <a:custGeom>
              <a:avLst/>
              <a:gdLst/>
              <a:ahLst/>
              <a:cxnLst/>
              <a:rect l="l" t="t" r="r" b="b"/>
              <a:pathLst>
                <a:path w="11436278" h="961260">
                  <a:moveTo>
                    <a:pt x="0" y="0"/>
                  </a:moveTo>
                  <a:lnTo>
                    <a:pt x="11436278" y="0"/>
                  </a:lnTo>
                  <a:lnTo>
                    <a:pt x="11436278" y="961260"/>
                  </a:lnTo>
                  <a:lnTo>
                    <a:pt x="0" y="961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147" b="-25114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1436274" cy="98031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Contrast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70567" y="9947634"/>
            <a:ext cx="32599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‹#›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4632" y="1933463"/>
            <a:ext cx="7315200" cy="2078890"/>
            <a:chOff x="0" y="0"/>
            <a:chExt cx="9753600" cy="27718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53600" cy="2771853"/>
            </a:xfrm>
            <a:custGeom>
              <a:avLst/>
              <a:gdLst/>
              <a:ahLst/>
              <a:cxnLst/>
              <a:rect l="l" t="t" r="r" b="b"/>
              <a:pathLst>
                <a:path w="9753600" h="2771853">
                  <a:moveTo>
                    <a:pt x="0" y="0"/>
                  </a:moveTo>
                  <a:lnTo>
                    <a:pt x="9753600" y="0"/>
                  </a:lnTo>
                  <a:lnTo>
                    <a:pt x="9753600" y="2771853"/>
                  </a:lnTo>
                  <a:lnTo>
                    <a:pt x="0" y="2771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" r="-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478304" y="428703"/>
              <a:ext cx="8796992" cy="2343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Develop a simple and centralized inventory management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system for SMEs</a:t>
              </a:r>
            </a:p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endPara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9944100" y="1933616"/>
            <a:ext cx="7315200" cy="2078736"/>
          </a:xfrm>
          <a:custGeom>
            <a:avLst/>
            <a:gdLst/>
            <a:ahLst/>
            <a:cxnLst/>
            <a:rect l="l" t="t" r="r" b="b"/>
            <a:pathLst>
              <a:path w="7315200" h="2078736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302828" y="2444611"/>
            <a:ext cx="659774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automated alerts for low stock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product expiry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774632" y="4372545"/>
            <a:ext cx="7315200" cy="2078736"/>
          </a:xfrm>
          <a:custGeom>
            <a:avLst/>
            <a:gdLst/>
            <a:ahLst/>
            <a:cxnLst/>
            <a:rect l="l" t="t" r="r" b="b"/>
            <a:pathLst>
              <a:path w="7315200" h="2078736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4689156"/>
            <a:ext cx="6597744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 real-time inventory tracking, updating,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transaction recording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74632" y="6841806"/>
            <a:ext cx="7315200" cy="2078736"/>
          </a:xfrm>
          <a:custGeom>
            <a:avLst/>
            <a:gdLst/>
            <a:ahLst/>
            <a:cxnLst/>
            <a:rect l="l" t="t" r="r" b="b"/>
            <a:pathLst>
              <a:path w="7315200" h="2078736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7127709"/>
            <a:ext cx="6597744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losses from overstocking, stock shortages,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expired products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9944100" y="4372545"/>
            <a:ext cx="7315200" cy="2078736"/>
          </a:xfrm>
          <a:custGeom>
            <a:avLst/>
            <a:gdLst/>
            <a:ahLst/>
            <a:cxnLst/>
            <a:rect l="l" t="t" r="r" b="b"/>
            <a:pathLst>
              <a:path w="7315200" h="2078736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02828" y="4689156"/>
            <a:ext cx="6597744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accuracy and operational efficiency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inventory management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944100" y="6841806"/>
            <a:ext cx="7315200" cy="2078736"/>
          </a:xfrm>
          <a:custGeom>
            <a:avLst/>
            <a:gdLst/>
            <a:ahLst/>
            <a:cxnLst/>
            <a:rect l="l" t="t" r="r" b="b"/>
            <a:pathLst>
              <a:path w="7315200" h="2078736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302828" y="7337259"/>
            <a:ext cx="659774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overhead costs for businesses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automation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257" y="398426"/>
            <a:ext cx="14084160" cy="831880"/>
            <a:chOff x="0" y="0"/>
            <a:chExt cx="18778880" cy="1109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8880" cy="1109168"/>
            </a:xfrm>
            <a:custGeom>
              <a:avLst/>
              <a:gdLst/>
              <a:ahLst/>
              <a:cxnLst/>
              <a:rect l="l" t="t" r="r" b="b"/>
              <a:pathLst>
                <a:path w="18778880" h="1109168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694" b="-29469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5.METHODOLOGY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257" y="2136743"/>
            <a:ext cx="12581613" cy="681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1 — Requirement Analysis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common inventory challenges faced by SMEs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key functional requirements for the system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2 — Literature Review &amp; Gap Analysis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4 existing inventory management systems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features missing from current solutions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3 — System Design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database schema, user flow, and UI wireframes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core modules: inventory, alerts, dashboard, reports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4 — Feasibility Analysis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technical, operational, and economic feasibility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5 — Development &amp; Testing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test the system for performance and accuracy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with sample data from real SME scenarios</a:t>
            </a:r>
          </a:p>
        </p:txBody>
      </p:sp>
      <p:sp>
        <p:nvSpPr>
          <p:cNvPr id="6" name="AutoShape 6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113" y="640179"/>
            <a:ext cx="14203778" cy="1147167"/>
            <a:chOff x="0" y="0"/>
            <a:chExt cx="18938370" cy="15295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38370" cy="1529548"/>
            </a:xfrm>
            <a:custGeom>
              <a:avLst/>
              <a:gdLst/>
              <a:ahLst/>
              <a:cxnLst/>
              <a:rect l="l" t="t" r="r" b="b"/>
              <a:pathLst>
                <a:path w="18938370" h="1529548">
                  <a:moveTo>
                    <a:pt x="0" y="0"/>
                  </a:moveTo>
                  <a:lnTo>
                    <a:pt x="18938370" y="0"/>
                  </a:lnTo>
                  <a:lnTo>
                    <a:pt x="18938370" y="1529548"/>
                  </a:lnTo>
                  <a:lnTo>
                    <a:pt x="0" y="1529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2967" r="842" b="-17548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938370" cy="1558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6.FEASIBILITY</a:t>
              </a: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06074" y="2501721"/>
            <a:ext cx="12581613" cy="712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Technical:</a:t>
            </a:r>
          </a:p>
          <a:p>
            <a:pPr algn="l">
              <a:lnSpc>
                <a:spcPts val="2879"/>
              </a:lnSpc>
            </a:pPr>
            <a:endParaRPr lang="en-US" sz="2799" b="1" u="sng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Tried and tested tech stack with all necessary documentation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Knowhow of much of the tech stack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implementation for SMEs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Mature libraries and APIs for sub-programs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Operational:</a:t>
            </a:r>
          </a:p>
          <a:p>
            <a:pPr algn="l">
              <a:lnSpc>
                <a:spcPts val="2879"/>
              </a:lnSpc>
            </a:pPr>
            <a:endParaRPr lang="en-US" sz="2799" b="1" u="sng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costs associated with operation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time inventory-tracking keeps costs low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E-paper based price labels will reduce operational costs for clients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Economic:</a:t>
            </a:r>
          </a:p>
          <a:p>
            <a:pPr algn="l">
              <a:lnSpc>
                <a:spcPts val="3359"/>
              </a:lnSpc>
            </a:pPr>
            <a:endParaRPr lang="en-US" sz="2799" b="1" u="sng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Self-Hosting will eliminate need for VPS, public ip, and/or domain, keeping costs low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“maintainence” will be carried out till bugs are fixed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 software results in no costs for capable clients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758771"/>
            <a:ext cx="1517692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feasibility analysis has been divided into three distinct sections:</a:t>
            </a:r>
          </a:p>
        </p:txBody>
      </p:sp>
      <p:sp>
        <p:nvSpPr>
          <p:cNvPr id="7" name="AutoShape 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692120" y="1848583"/>
            <a:ext cx="13798107" cy="8254211"/>
          </a:xfrm>
          <a:custGeom>
            <a:avLst/>
            <a:gdLst/>
            <a:ahLst/>
            <a:cxnLst/>
            <a:rect l="l" t="t" r="r" b="b"/>
            <a:pathLst>
              <a:path w="13798107" h="8254211">
                <a:moveTo>
                  <a:pt x="0" y="0"/>
                </a:moveTo>
                <a:lnTo>
                  <a:pt x="13798107" y="0"/>
                </a:lnTo>
                <a:lnTo>
                  <a:pt x="13798107" y="8254212"/>
                </a:lnTo>
                <a:lnTo>
                  <a:pt x="0" y="8254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0" t="-2347" r="-136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51787" y="654285"/>
            <a:ext cx="14203778" cy="2118717"/>
            <a:chOff x="0" y="0"/>
            <a:chExt cx="18938370" cy="28249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38370" cy="2824941"/>
            </a:xfrm>
            <a:custGeom>
              <a:avLst/>
              <a:gdLst/>
              <a:ahLst/>
              <a:cxnLst/>
              <a:rect l="l" t="t" r="r" b="b"/>
              <a:pathLst>
                <a:path w="18938370" h="2824941">
                  <a:moveTo>
                    <a:pt x="0" y="0"/>
                  </a:moveTo>
                  <a:lnTo>
                    <a:pt x="18938370" y="0"/>
                  </a:lnTo>
                  <a:lnTo>
                    <a:pt x="18938370" y="2824941"/>
                  </a:lnTo>
                  <a:lnTo>
                    <a:pt x="0" y="28249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895" r="842" b="-4915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8938370" cy="2853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7.GANTT CHART</a:t>
              </a: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7" name="AutoShape 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257" y="604639"/>
            <a:ext cx="14203778" cy="1632942"/>
            <a:chOff x="0" y="0"/>
            <a:chExt cx="18938370" cy="217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38370" cy="2177245"/>
            </a:xfrm>
            <a:custGeom>
              <a:avLst/>
              <a:gdLst/>
              <a:ahLst/>
              <a:cxnLst/>
              <a:rect l="l" t="t" r="r" b="b"/>
              <a:pathLst>
                <a:path w="18938370" h="2177245">
                  <a:moveTo>
                    <a:pt x="0" y="0"/>
                  </a:moveTo>
                  <a:lnTo>
                    <a:pt x="18938370" y="0"/>
                  </a:lnTo>
                  <a:lnTo>
                    <a:pt x="18938370" y="2177245"/>
                  </a:lnTo>
                  <a:lnTo>
                    <a:pt x="0" y="2177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2587" r="842" b="-9353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938370" cy="22058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3840"/>
                </a:lnSpc>
              </a:pPr>
              <a:endPara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257" y="1846702"/>
            <a:ext cx="13644597" cy="726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Selected the LAMP Tech Stack based on Simplicity and familiarity </a:t>
            </a:r>
          </a:p>
          <a:p>
            <a:pPr algn="l">
              <a:lnSpc>
                <a:spcPts val="2879"/>
              </a:lnSpc>
            </a:pPr>
            <a:endParaRPr lang="en-US" sz="3199" b="1" u="sng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L: Linux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headless linux ISO or a docker image will be used to run the rest of the stack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A: Apache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be using an apache web server like XAMPP for development locally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M: MySQL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will be used for CRUD operations involving the products and their inventorying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59"/>
              </a:lnSpc>
            </a:pPr>
            <a:r>
              <a:rPr lang="en-US" sz="27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P: PHP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Laravel, a PHP framework will be used for backend and integration with MySQL</a:t>
            </a:r>
          </a:p>
        </p:txBody>
      </p:sp>
      <p:sp>
        <p:nvSpPr>
          <p:cNvPr id="6" name="AutoShape 6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1312" y="304486"/>
            <a:ext cx="14084160" cy="1143273"/>
            <a:chOff x="0" y="0"/>
            <a:chExt cx="18778880" cy="152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8880" cy="1524356"/>
            </a:xfrm>
            <a:custGeom>
              <a:avLst/>
              <a:gdLst/>
              <a:ahLst/>
              <a:cxnLst/>
              <a:rect l="l" t="t" r="r" b="b"/>
              <a:pathLst>
                <a:path w="18778880" h="1524356">
                  <a:moveTo>
                    <a:pt x="0" y="0"/>
                  </a:moveTo>
                  <a:lnTo>
                    <a:pt x="18778880" y="0"/>
                  </a:lnTo>
                  <a:lnTo>
                    <a:pt x="18778880" y="1524356"/>
                  </a:lnTo>
                  <a:lnTo>
                    <a:pt x="0" y="15243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658" b="-17642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778880" cy="155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8.COMPARISON</a:t>
              </a: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61312" y="1933616"/>
          <a:ext cx="17095930" cy="6421734"/>
        </p:xfrm>
        <a:graphic>
          <a:graphicData uri="http://schemas.openxmlformats.org/drawingml/2006/table">
            <a:tbl>
              <a:tblPr/>
              <a:tblGrid>
                <a:gridCol w="3268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5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22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047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ERP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StockSmart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Web-Based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IoT-Based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AI-Based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02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241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u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490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46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Large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246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Ease of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7870567" y="9947634"/>
            <a:ext cx="32599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‹#›</a:t>
            </a:r>
          </a:p>
        </p:txBody>
      </p:sp>
      <p:sp>
        <p:nvSpPr>
          <p:cNvPr id="7" name="AutoShape 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1312" y="304486"/>
            <a:ext cx="14084160" cy="1143273"/>
            <a:chOff x="0" y="0"/>
            <a:chExt cx="18778880" cy="15243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8880" cy="1524356"/>
            </a:xfrm>
            <a:custGeom>
              <a:avLst/>
              <a:gdLst/>
              <a:ahLst/>
              <a:cxnLst/>
              <a:rect l="l" t="t" r="r" b="b"/>
              <a:pathLst>
                <a:path w="18778880" h="1524356">
                  <a:moveTo>
                    <a:pt x="0" y="0"/>
                  </a:moveTo>
                  <a:lnTo>
                    <a:pt x="18778880" y="0"/>
                  </a:lnTo>
                  <a:lnTo>
                    <a:pt x="18778880" y="1524356"/>
                  </a:lnTo>
                  <a:lnTo>
                    <a:pt x="0" y="15243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3658" b="-17642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778880" cy="155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9.Conclusion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361312" y="2711832"/>
            <a:ext cx="15933959" cy="440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Replaces manual inventory with a simple digital system</a:t>
            </a:r>
          </a:p>
          <a:p>
            <a:pPr algn="just">
              <a:lnSpc>
                <a:spcPts val="3840"/>
              </a:lnSpc>
            </a:pPr>
            <a:endParaRPr lang="en-US" sz="32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90881" lvl="1" indent="-345440" algn="just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Provides real-time stock tracking and updates</a:t>
            </a:r>
          </a:p>
          <a:p>
            <a:pPr algn="just">
              <a:lnSpc>
                <a:spcPts val="3840"/>
              </a:lnSpc>
            </a:pPr>
            <a:endParaRPr lang="en-US" sz="32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90881" lvl="1" indent="-345440" algn="just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Reduces losses with alerts for low stock and expiry</a:t>
            </a:r>
          </a:p>
          <a:p>
            <a:pPr algn="just">
              <a:lnSpc>
                <a:spcPts val="3840"/>
              </a:lnSpc>
            </a:pPr>
            <a:endParaRPr lang="en-US" sz="32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90881" lvl="1" indent="-345440" algn="just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More affordable and easier than complex systems</a:t>
            </a:r>
          </a:p>
          <a:p>
            <a:pPr algn="just">
              <a:lnSpc>
                <a:spcPts val="3840"/>
              </a:lnSpc>
            </a:pPr>
            <a:endParaRPr lang="en-US" sz="32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90881" lvl="1" indent="-345440" algn="just">
              <a:lnSpc>
                <a:spcPts val="38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Improves efficiency and supports business growth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524042"/>
            <a:ext cx="18288000" cy="0"/>
          </a:xfrm>
          <a:prstGeom prst="line">
            <a:avLst/>
          </a:prstGeom>
          <a:ln w="3810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61312" y="538139"/>
            <a:ext cx="14084160" cy="661392"/>
            <a:chOff x="0" y="0"/>
            <a:chExt cx="18778880" cy="8818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8880" cy="881851"/>
            </a:xfrm>
            <a:custGeom>
              <a:avLst/>
              <a:gdLst/>
              <a:ahLst/>
              <a:cxnLst/>
              <a:rect l="l" t="t" r="r" b="b"/>
              <a:pathLst>
                <a:path w="18778880" h="881851">
                  <a:moveTo>
                    <a:pt x="0" y="0"/>
                  </a:moveTo>
                  <a:lnTo>
                    <a:pt x="18778880" y="0"/>
                  </a:lnTo>
                  <a:lnTo>
                    <a:pt x="18778880" y="881851"/>
                  </a:lnTo>
                  <a:lnTo>
                    <a:pt x="0" y="88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041" b="-37782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778880" cy="910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39"/>
                </a:lnSpc>
              </a:pPr>
              <a:r>
                <a:rPr lang="en-US" sz="31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0030" y="1771691"/>
            <a:ext cx="17647939" cy="7710798"/>
            <a:chOff x="0" y="0"/>
            <a:chExt cx="4648017" cy="20308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8017" cy="2030827"/>
            </a:xfrm>
            <a:custGeom>
              <a:avLst/>
              <a:gdLst/>
              <a:ahLst/>
              <a:cxnLst/>
              <a:rect l="l" t="t" r="r" b="b"/>
              <a:pathLst>
                <a:path w="4648017" h="2030827">
                  <a:moveTo>
                    <a:pt x="0" y="0"/>
                  </a:moveTo>
                  <a:lnTo>
                    <a:pt x="4648017" y="0"/>
                  </a:lnTo>
                  <a:lnTo>
                    <a:pt x="4648017" y="2030827"/>
                  </a:lnTo>
                  <a:lnTo>
                    <a:pt x="0" y="2030827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4648017" cy="2040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9375" y="2359480"/>
            <a:ext cx="18009251" cy="630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F. Agboola, Y. M. Malgwi, M. A. Mahmud, and J. P. Oguntoye, "Development of a web-based platform for automating an inventory management of a small and medium enterprise," FUDMA Journal of Sciences (FJS), vol. 6, no. 5, pp. 57–65, Oct. 2022, doi: 10.33003/fjs-2022-0605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Haider and E. Lucas, “Smart Inventory Management for SMEs: Leveraging IoT and Automation to Streamline Stock Control and Minimize Costs,” ResearchGate, Dec. 2024. DOI: 10.13140/RG.2.2.33042.57282.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6374" lvl="1" indent="-25318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International Journal for Research in Applied Science and Engineering Technology Abdul Majid K and Kavyashree G.J, “Smart Inventory &amp; Sales Analytics for Supermarkets,” International Journal for Research in Applied Science and Engineering Technology (IJRASET), vol. 13, no. 8, pp. 748–757, Aug. 2025, doi: 10.22214/ijraset.2025.73635.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6730" lvl="1" indent="-253365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R. N. M. Qureshi, "Evaluating enterprise resource planning (ERP) implementation for sustainable supply chain management," Sustainability, vol. 14, no. 22, pp. 1–21, Nov. 2022, </a:t>
            </a:r>
            <a:r>
              <a:rPr lang="en-US" sz="2799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799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10.3390/su142214779</a:t>
            </a:r>
          </a:p>
        </p:txBody>
      </p:sp>
      <p:sp>
        <p:nvSpPr>
          <p:cNvPr id="10" name="AutoShape 10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w="171450" cap="rnd">
            <a:solidFill>
              <a:srgbClr val="0000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5176929" y="180975"/>
            <a:ext cx="3111071" cy="1266784"/>
          </a:xfrm>
          <a:custGeom>
            <a:avLst/>
            <a:gdLst/>
            <a:ahLst/>
            <a:cxnLst/>
            <a:rect l="l" t="t" r="r" b="b"/>
            <a:pathLst>
              <a:path w="3111071" h="1266784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StockSmart_Group06</dc:title>
  <cp:revision>4</cp:revision>
  <dcterms:created xsi:type="dcterms:W3CDTF">2006-08-16T00:00:00Z</dcterms:created>
  <dcterms:modified xsi:type="dcterms:W3CDTF">2026-05-03T17:43:11Z</dcterms:modified>
  <dc:identifier>DAHIbDJQGfw</dc:identifier>
</cp:coreProperties>
</file>