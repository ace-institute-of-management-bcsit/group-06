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ITC Franklin Gothic LT Condensed" charset="1" panose="020B0506030503020204"/>
      <p:regular r:id="rId19"/>
    </p:embeddedFont>
    <p:embeddedFont>
      <p:font typeface="Arial Bold" charset="1" panose="020B0704020202020204"/>
      <p:regular r:id="rId20"/>
    </p:embeddedFont>
    <p:embeddedFont>
      <p:font typeface="Arial Italics" charset="1" panose="020B0604020202090204"/>
      <p:regular r:id="rId21"/>
    </p:embeddedFont>
    <p:embeddedFont>
      <p:font typeface="Calibri (MS) Bold" charset="1" panose="020F0702030404030204"/>
      <p:regular r:id="rId22"/>
    </p:embeddedFont>
    <p:embeddedFont>
      <p:font typeface="Arial" charset="1" panose="020B0604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6.png" Type="http://schemas.openxmlformats.org/officeDocument/2006/relationships/image"/><Relationship Id="rId4" Target="../media/image7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305059" cy="1104405"/>
            <a:chOff x="0" y="0"/>
            <a:chExt cx="24406746" cy="14725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6746" cy="1472540"/>
            </a:xfrm>
            <a:custGeom>
              <a:avLst/>
              <a:gdLst/>
              <a:ahLst/>
              <a:cxnLst/>
              <a:rect r="r" b="b" t="t" l="l"/>
              <a:pathLst>
                <a:path h="1472540" w="24406746">
                  <a:moveTo>
                    <a:pt x="0" y="0"/>
                  </a:moveTo>
                  <a:lnTo>
                    <a:pt x="24406746" y="0"/>
                  </a:lnTo>
                  <a:lnTo>
                    <a:pt x="24406746" y="1472540"/>
                  </a:lnTo>
                  <a:lnTo>
                    <a:pt x="0" y="1472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4406746" cy="1472540"/>
              <a:chOff x="0" y="0"/>
              <a:chExt cx="24406746" cy="147254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406744" cy="1472540"/>
              </a:xfrm>
              <a:custGeom>
                <a:avLst/>
                <a:gdLst/>
                <a:ahLst/>
                <a:cxnLst/>
                <a:rect r="r" b="b" t="t" l="l"/>
                <a:pathLst>
                  <a:path h="1472540" w="24406744">
                    <a:moveTo>
                      <a:pt x="0" y="0"/>
                    </a:moveTo>
                    <a:lnTo>
                      <a:pt x="24406744" y="0"/>
                    </a:lnTo>
                    <a:lnTo>
                      <a:pt x="24406744" y="1472540"/>
                    </a:lnTo>
                    <a:lnTo>
                      <a:pt x="0" y="147254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72956" r="0" b="-272956"/>
                </a:stretch>
              </a:blip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57150"/>
                <a:ext cx="24406746" cy="152969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FFFFFF"/>
                    </a:solidFill>
                    <a:latin typeface="ITC Franklin Gothic LT Condensed"/>
                    <a:ea typeface="ITC Franklin Gothic LT Condensed"/>
                    <a:cs typeface="ITC Franklin Gothic LT Condensed"/>
                    <a:sym typeface="ITC Franklin Gothic LT Condensed"/>
                  </a:rPr>
                  <a:t>ACE INSTITUTE OF MANAEGMENT</a:t>
                </a: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3890277" y="3636652"/>
            <a:ext cx="10870749" cy="1506848"/>
            <a:chOff x="0" y="0"/>
            <a:chExt cx="14494332" cy="20091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494332" cy="2009120"/>
            </a:xfrm>
            <a:custGeom>
              <a:avLst/>
              <a:gdLst/>
              <a:ahLst/>
              <a:cxnLst/>
              <a:rect r="r" b="b" t="t" l="l"/>
              <a:pathLst>
                <a:path h="2009120" w="14494332">
                  <a:moveTo>
                    <a:pt x="0" y="0"/>
                  </a:moveTo>
                  <a:lnTo>
                    <a:pt x="14494332" y="0"/>
                  </a:lnTo>
                  <a:lnTo>
                    <a:pt x="14494332" y="2009120"/>
                  </a:lnTo>
                  <a:lnTo>
                    <a:pt x="0" y="2009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5716" r="0" b="-6542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4494332" cy="202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StockSmart: Inventory Management System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890277" y="6923703"/>
            <a:ext cx="10870749" cy="635051"/>
            <a:chOff x="0" y="0"/>
            <a:chExt cx="14494332" cy="8467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494332" cy="846740"/>
            </a:xfrm>
            <a:custGeom>
              <a:avLst/>
              <a:gdLst/>
              <a:ahLst/>
              <a:cxnLst/>
              <a:rect r="r" b="b" t="t" l="l"/>
              <a:pathLst>
                <a:path h="846740" w="14494332">
                  <a:moveTo>
                    <a:pt x="0" y="0"/>
                  </a:moveTo>
                  <a:lnTo>
                    <a:pt x="14494332" y="0"/>
                  </a:lnTo>
                  <a:lnTo>
                    <a:pt x="14494332" y="846740"/>
                  </a:lnTo>
                  <a:lnTo>
                    <a:pt x="0" y="84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541" r="0" b="-28354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4494332" cy="86578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i="true">
                  <a:solidFill>
                    <a:srgbClr val="000000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Under Supervision of Mr. Sanju Shrestha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227971" y="5987218"/>
            <a:ext cx="12817945" cy="635055"/>
            <a:chOff x="0" y="0"/>
            <a:chExt cx="17090593" cy="8467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90594" cy="846746"/>
            </a:xfrm>
            <a:custGeom>
              <a:avLst/>
              <a:gdLst/>
              <a:ahLst/>
              <a:cxnLst/>
              <a:rect r="r" b="b" t="t" l="l"/>
              <a:pathLst>
                <a:path h="846746" w="17090594">
                  <a:moveTo>
                    <a:pt x="0" y="0"/>
                  </a:moveTo>
                  <a:lnTo>
                    <a:pt x="17090594" y="0"/>
                  </a:lnTo>
                  <a:lnTo>
                    <a:pt x="17090594" y="846746"/>
                  </a:lnTo>
                  <a:lnTo>
                    <a:pt x="0" y="8467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539" r="15191" b="-28353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7090593" cy="86579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Diya Manandhar, Shreyas Regmi, Avash Shrestha, Krishala Pokhrel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-258897" y="0"/>
            <a:ext cx="18546897" cy="1009690"/>
          </a:xfrm>
          <a:custGeom>
            <a:avLst/>
            <a:gdLst/>
            <a:ahLst/>
            <a:cxnLst/>
            <a:rect r="r" b="b" t="t" l="l"/>
            <a:pathLst>
              <a:path h="1009690" w="18546897">
                <a:moveTo>
                  <a:pt x="0" y="0"/>
                </a:moveTo>
                <a:lnTo>
                  <a:pt x="18546897" y="0"/>
                </a:lnTo>
                <a:lnTo>
                  <a:pt x="18546897" y="1009690"/>
                </a:lnTo>
                <a:lnTo>
                  <a:pt x="0" y="10096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237" r="0" b="-4567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061370" y="9909534"/>
            <a:ext cx="13519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61312" y="304486"/>
            <a:ext cx="14084160" cy="831885"/>
            <a:chOff x="0" y="0"/>
            <a:chExt cx="18778880" cy="11091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778880" cy="1109174"/>
            </a:xfrm>
            <a:custGeom>
              <a:avLst/>
              <a:gdLst/>
              <a:ahLst/>
              <a:cxnLst/>
              <a:rect r="r" b="b" t="t" l="l"/>
              <a:pathLst>
                <a:path h="1109174" w="18778880">
                  <a:moveTo>
                    <a:pt x="0" y="0"/>
                  </a:moveTo>
                  <a:lnTo>
                    <a:pt x="18778880" y="0"/>
                  </a:lnTo>
                  <a:lnTo>
                    <a:pt x="18778880" y="1109174"/>
                  </a:lnTo>
                  <a:lnTo>
                    <a:pt x="0" y="11091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1" r="0" b="-279891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8778880" cy="1128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Table of Contents 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61312" y="2236349"/>
            <a:ext cx="10886033" cy="421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1" indent="-253365" lvl="1">
              <a:lnSpc>
                <a:spcPts val="3360"/>
              </a:lnSpc>
              <a:buAutoNum type="arabicPeriod" startAt="1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</a:p>
          <a:p>
            <a:pPr algn="l" marL="506731" indent="-253365" lvl="1">
              <a:lnSpc>
                <a:spcPts val="3360"/>
              </a:lnSpc>
              <a:buAutoNum type="arabicPeriod" startAt="1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Commitments from Proposal Defense</a:t>
            </a:r>
          </a:p>
          <a:p>
            <a:pPr algn="l" marL="506731" indent="-253365" lvl="1">
              <a:lnSpc>
                <a:spcPts val="3360"/>
              </a:lnSpc>
              <a:buAutoNum type="arabicPeriod" startAt="1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Feedback Received During Proposal Defense</a:t>
            </a:r>
          </a:p>
          <a:p>
            <a:pPr algn="l" marL="506731" indent="-253365" lvl="1">
              <a:lnSpc>
                <a:spcPts val="3360"/>
              </a:lnSpc>
              <a:buAutoNum type="arabicPeriod" startAt="1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 Progress Summary</a:t>
            </a:r>
          </a:p>
          <a:p>
            <a:pPr algn="l" marL="506731" indent="-253365" lvl="1">
              <a:lnSpc>
                <a:spcPts val="3360"/>
              </a:lnSpc>
              <a:buAutoNum type="arabicPeriod" startAt="1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and Technologies Used</a:t>
            </a:r>
          </a:p>
          <a:p>
            <a:pPr algn="l" marL="506731" indent="-253365" lvl="1">
              <a:lnSpc>
                <a:spcPts val="3360"/>
              </a:lnSpc>
              <a:buAutoNum type="arabicPeriod" startAt="1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Gantt Chart</a:t>
            </a:r>
          </a:p>
          <a:p>
            <a:pPr algn="l" marL="506731" indent="-253365" lvl="1">
              <a:lnSpc>
                <a:spcPts val="3360"/>
              </a:lnSpc>
              <a:buAutoNum type="arabicPeriod" startAt="1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Achievements</a:t>
            </a:r>
          </a:p>
          <a:p>
            <a:pPr algn="l" marL="506731" indent="-253365" lvl="1">
              <a:lnSpc>
                <a:spcPts val="3360"/>
              </a:lnSpc>
              <a:buAutoNum type="arabicPeriod" startAt="1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</a:p>
          <a:p>
            <a:pPr algn="l" marL="506731" indent="-253365" lvl="1">
              <a:lnSpc>
                <a:spcPts val="3360"/>
              </a:lnSpc>
              <a:buAutoNum type="arabicPeriod" startAt="1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Work Before End-Term Defense</a:t>
            </a:r>
          </a:p>
          <a:p>
            <a:pPr algn="l" marL="506731" indent="-253365" lvl="1">
              <a:lnSpc>
                <a:spcPts val="3360"/>
              </a:lnSpc>
              <a:buAutoNum type="arabicPeriod" startAt="1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</a:p>
        </p:txBody>
      </p:sp>
      <p:sp>
        <p:nvSpPr>
          <p:cNvPr name="AutoShape 7" id="7"/>
          <p:cNvSpPr/>
          <p:nvPr/>
        </p:nvSpPr>
        <p:spPr>
          <a:xfrm>
            <a:off x="-299708" y="10201275"/>
            <a:ext cx="18887417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17692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7993742" y="9996487"/>
            <a:ext cx="1352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880070" y="9909534"/>
            <a:ext cx="31649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‹#›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61312" y="304486"/>
            <a:ext cx="14084160" cy="831880"/>
            <a:chOff x="0" y="0"/>
            <a:chExt cx="18778880" cy="11091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778880" cy="1109168"/>
            </a:xfrm>
            <a:custGeom>
              <a:avLst/>
              <a:gdLst/>
              <a:ahLst/>
              <a:cxnLst/>
              <a:rect r="r" b="b" t="t" l="l"/>
              <a:pathLst>
                <a:path h="1109168" w="18778880">
                  <a:moveTo>
                    <a:pt x="0" y="0"/>
                  </a:moveTo>
                  <a:lnTo>
                    <a:pt x="18778880" y="0"/>
                  </a:lnTo>
                  <a:lnTo>
                    <a:pt x="18778880" y="1109168"/>
                  </a:lnTo>
                  <a:lnTo>
                    <a:pt x="0" y="11091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2" r="0" b="-27989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8778880" cy="113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Overview (Precap) 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0" y="1882912"/>
            <a:ext cx="18009251" cy="4331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0228" indent="-260114" lvl="1">
              <a:lnSpc>
                <a:spcPts val="3449"/>
              </a:lnSpc>
              <a:buFont typeface="Arial"/>
              <a:buChar char="•"/>
            </a:pPr>
            <a:r>
              <a:rPr lang="en-US" b="true" sz="287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What StockSmart Is:</a:t>
            </a:r>
          </a:p>
          <a:p>
            <a:pPr algn="l" marL="657131" indent="-219044" lvl="2">
              <a:lnSpc>
                <a:spcPts val="2956"/>
              </a:lnSpc>
              <a:buFont typeface="Arial"/>
              <a:buChar char="⚬"/>
            </a:pPr>
            <a:r>
              <a:rPr lang="en-US" sz="246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centralized, web-based inventory and point-of-sale (POS) management system for SMEs</a:t>
            </a:r>
          </a:p>
          <a:p>
            <a:pPr algn="l">
              <a:lnSpc>
                <a:spcPts val="2956"/>
              </a:lnSpc>
            </a:pPr>
          </a:p>
          <a:p>
            <a:pPr algn="l" marL="520228" indent="-260114" lvl="1">
              <a:lnSpc>
                <a:spcPts val="3449"/>
              </a:lnSpc>
              <a:buFont typeface="Arial"/>
              <a:buChar char="•"/>
            </a:pPr>
            <a:r>
              <a:rPr lang="en-US" b="true" sz="287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Being Solved:</a:t>
            </a:r>
          </a:p>
          <a:p>
            <a:pPr algn="l" marL="657131" indent="-219044" lvl="2">
              <a:lnSpc>
                <a:spcPts val="2956"/>
              </a:lnSpc>
              <a:buFont typeface="Arial"/>
              <a:buChar char="⚬"/>
            </a:pPr>
            <a:r>
              <a:rPr lang="en-US" sz="246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Manual stock tracking causes stock-outs, overstocking, expired goods, and revenue loss</a:t>
            </a:r>
          </a:p>
          <a:p>
            <a:pPr algn="l">
              <a:lnSpc>
                <a:spcPts val="2956"/>
              </a:lnSpc>
            </a:pPr>
          </a:p>
          <a:p>
            <a:pPr algn="l" marL="520228" indent="-260114" lvl="1">
              <a:lnSpc>
                <a:spcPts val="3449"/>
              </a:lnSpc>
              <a:buFont typeface="Arial"/>
              <a:buChar char="•"/>
            </a:pPr>
            <a:r>
              <a:rPr lang="en-US" b="true" sz="287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Target Users:</a:t>
            </a:r>
          </a:p>
          <a:p>
            <a:pPr algn="l" marL="657131" indent="-219044" lvl="2">
              <a:lnSpc>
                <a:spcPts val="2956"/>
              </a:lnSpc>
              <a:buFont typeface="Arial"/>
              <a:buChar char="⚬"/>
            </a:pPr>
            <a:r>
              <a:rPr lang="en-US" sz="246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 shops, supermarkets, warehouses, and wholesalers with limited IT staff</a:t>
            </a:r>
          </a:p>
          <a:p>
            <a:pPr algn="l">
              <a:lnSpc>
                <a:spcPts val="2956"/>
              </a:lnSpc>
            </a:pPr>
          </a:p>
          <a:p>
            <a:pPr algn="l" marL="520228" indent="-260114" lvl="1">
              <a:lnSpc>
                <a:spcPts val="3449"/>
              </a:lnSpc>
              <a:buFont typeface="Arial"/>
              <a:buChar char="•"/>
            </a:pPr>
            <a:r>
              <a:rPr lang="en-US" b="true" sz="287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Main Objectives:</a:t>
            </a:r>
          </a:p>
          <a:p>
            <a:pPr algn="l" marL="657131" indent="-219044" lvl="2">
              <a:lnSpc>
                <a:spcPts val="2956"/>
              </a:lnSpc>
              <a:buFont typeface="Arial"/>
              <a:buChar char="⚬"/>
            </a:pPr>
            <a:r>
              <a:rPr lang="en-US" sz="246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Centralized real-time tracking, automated low-stock/expiry alerts, simple and affordable for SMEs</a:t>
            </a:r>
          </a:p>
        </p:txBody>
      </p:sp>
      <p:sp>
        <p:nvSpPr>
          <p:cNvPr name="AutoShape 7" id="7"/>
          <p:cNvSpPr/>
          <p:nvPr/>
        </p:nvSpPr>
        <p:spPr>
          <a:xfrm>
            <a:off x="-299708" y="10201275"/>
            <a:ext cx="18887417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-102391" y="10200046"/>
            <a:ext cx="18492782" cy="17673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517692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7993742" y="9996487"/>
            <a:ext cx="1352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55440" y="9909534"/>
            <a:ext cx="1341120" cy="25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‹#›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61312" y="304486"/>
            <a:ext cx="14084160" cy="831880"/>
            <a:chOff x="0" y="0"/>
            <a:chExt cx="18778880" cy="11091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778880" cy="1109168"/>
            </a:xfrm>
            <a:custGeom>
              <a:avLst/>
              <a:gdLst/>
              <a:ahLst/>
              <a:cxnLst/>
              <a:rect r="r" b="b" t="t" l="l"/>
              <a:pathLst>
                <a:path h="1109168" w="18778880">
                  <a:moveTo>
                    <a:pt x="0" y="0"/>
                  </a:moveTo>
                  <a:lnTo>
                    <a:pt x="18778880" y="0"/>
                  </a:lnTo>
                  <a:lnTo>
                    <a:pt x="18778880" y="1109168"/>
                  </a:lnTo>
                  <a:lnTo>
                    <a:pt x="0" y="11091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2" r="0" b="-27989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8778880" cy="113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Commitments from Proposal Defense </a:t>
              </a: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685800" y="2250000"/>
          <a:ext cx="16878300" cy="5186362"/>
        </p:xfrm>
        <a:graphic>
          <a:graphicData uri="http://schemas.openxmlformats.org/drawingml/2006/table">
            <a:tbl>
              <a:tblPr/>
              <a:tblGrid>
                <a:gridCol w="5238176"/>
                <a:gridCol w="2843581"/>
                <a:gridCol w="8796543"/>
              </a:tblGrid>
              <a:tr h="7245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Commitment Made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7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Current Status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7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Evidence of Completion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78"/>
                    </a:solidFill>
                  </a:tcPr>
                </a:tc>
              </a:tr>
              <a:tr h="11440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Complete database design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Designed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Schema designed in stocksmart.sql and in active use by backend APIs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40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Develop inventory management module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Done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inventory.html — live stock, locations, reorder alerts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45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 dashboard with analytics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Done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dashboard.html — stats, charts, activity feed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45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Build POS / checkout module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Done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checkout.php + cart.php — session cart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45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Testing &amp; deployment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 Progress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Unit testing ongoing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7" id="7"/>
          <p:cNvSpPr/>
          <p:nvPr/>
        </p:nvSpPr>
        <p:spPr>
          <a:xfrm>
            <a:off x="-299708" y="10201275"/>
            <a:ext cx="18887417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17692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7993742" y="9996487"/>
            <a:ext cx="1352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55440" y="9909534"/>
            <a:ext cx="1341120" cy="25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‹#›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61312" y="304486"/>
            <a:ext cx="14084160" cy="831880"/>
            <a:chOff x="0" y="0"/>
            <a:chExt cx="18778880" cy="11091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778880" cy="1109168"/>
            </a:xfrm>
            <a:custGeom>
              <a:avLst/>
              <a:gdLst/>
              <a:ahLst/>
              <a:cxnLst/>
              <a:rect r="r" b="b" t="t" l="l"/>
              <a:pathLst>
                <a:path h="1109168" w="18778880">
                  <a:moveTo>
                    <a:pt x="0" y="0"/>
                  </a:moveTo>
                  <a:lnTo>
                    <a:pt x="18778880" y="0"/>
                  </a:lnTo>
                  <a:lnTo>
                    <a:pt x="18778880" y="1109168"/>
                  </a:lnTo>
                  <a:lnTo>
                    <a:pt x="0" y="11091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2" r="0" b="-27989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8778880" cy="113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Feedback Received During Proposal Defense </a:t>
              </a: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685800" y="2250000"/>
          <a:ext cx="16878300" cy="3433762"/>
        </p:xfrm>
        <a:graphic>
          <a:graphicData uri="http://schemas.openxmlformats.org/drawingml/2006/table">
            <a:tbl>
              <a:tblPr/>
              <a:tblGrid>
                <a:gridCol w="5238176"/>
                <a:gridCol w="6285811"/>
                <a:gridCol w="5354314"/>
              </a:tblGrid>
              <a:tr h="72490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Feedback / Suggestion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7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Action Taken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7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Current Result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78"/>
                    </a:solidFill>
                  </a:tcPr>
                </a:tc>
              </a:tr>
              <a:tr h="15642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Re-prepare the Gantt chart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Prepared a revised project timeline showing remaining tasks and durations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Updated Gantt chart added to this presentation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458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a homepage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Built index.html as a static landing page introducing StockSmart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Homepage completed and linked into site navigation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7" id="7"/>
          <p:cNvSpPr/>
          <p:nvPr/>
        </p:nvSpPr>
        <p:spPr>
          <a:xfrm>
            <a:off x="-299708" y="10201275"/>
            <a:ext cx="18887417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17692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7993742" y="9996487"/>
            <a:ext cx="1352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55440" y="9909534"/>
            <a:ext cx="1341120" cy="25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‹#›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61312" y="304486"/>
            <a:ext cx="14084160" cy="831880"/>
            <a:chOff x="0" y="0"/>
            <a:chExt cx="18778880" cy="11091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778880" cy="1109168"/>
            </a:xfrm>
            <a:custGeom>
              <a:avLst/>
              <a:gdLst/>
              <a:ahLst/>
              <a:cxnLst/>
              <a:rect r="r" b="b" t="t" l="l"/>
              <a:pathLst>
                <a:path h="1109168" w="18778880">
                  <a:moveTo>
                    <a:pt x="0" y="0"/>
                  </a:moveTo>
                  <a:lnTo>
                    <a:pt x="18778880" y="0"/>
                  </a:lnTo>
                  <a:lnTo>
                    <a:pt x="18778880" y="1109168"/>
                  </a:lnTo>
                  <a:lnTo>
                    <a:pt x="0" y="11091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2" r="0" b="-27989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8778880" cy="113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Overall Progress Summary 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0" y="1895517"/>
            <a:ext cx="17987374" cy="362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145" indent="-253572" lvl="1">
              <a:lnSpc>
                <a:spcPts val="3362"/>
              </a:lnSpc>
              <a:buFont typeface="Arial"/>
              <a:buChar char="•"/>
            </a:pPr>
            <a:r>
              <a:rPr lang="en-US" b="true" sz="280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Estimated Completion: ~60%</a:t>
            </a:r>
          </a:p>
          <a:p>
            <a:pPr algn="l">
              <a:lnSpc>
                <a:spcPts val="3482"/>
              </a:lnSpc>
            </a:pPr>
          </a:p>
          <a:p>
            <a:pPr algn="l" marL="507145" indent="-253572" lvl="1">
              <a:lnSpc>
                <a:spcPts val="3362"/>
              </a:lnSpc>
              <a:buFont typeface="Arial"/>
              <a:buChar char="•"/>
            </a:pPr>
            <a:r>
              <a:rPr lang="en-US" b="true" sz="280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Major Milestones Achieved:</a:t>
            </a:r>
          </a:p>
          <a:p>
            <a:pPr algn="l" marL="640080" indent="-213360" lvl="2">
              <a:lnSpc>
                <a:spcPts val="2879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 schema designed </a:t>
            </a:r>
          </a:p>
          <a:p>
            <a:pPr algn="l" marL="640080" indent="-213360" lvl="2">
              <a:lnSpc>
                <a:spcPts val="2879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Homepage, Products, Inventory, Dashboard, and POS Checkout modules built </a:t>
            </a:r>
          </a:p>
          <a:p>
            <a:pPr algn="l" marL="640080" indent="-213360" lvl="2">
              <a:lnSpc>
                <a:spcPts val="2879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Consistent UI applied across all pages</a:t>
            </a:r>
          </a:p>
          <a:p>
            <a:pPr algn="l">
              <a:lnSpc>
                <a:spcPts val="3731"/>
              </a:lnSpc>
            </a:pPr>
          </a:p>
          <a:p>
            <a:pPr algn="l" marL="507145" indent="-253572" lvl="1">
              <a:lnSpc>
                <a:spcPts val="3362"/>
              </a:lnSpc>
              <a:buFont typeface="Arial"/>
              <a:buChar char="•"/>
            </a:pPr>
            <a:r>
              <a:rPr lang="en-US" b="true" sz="280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Current Status:</a:t>
            </a:r>
          </a:p>
          <a:p>
            <a:pPr algn="l" marL="640080" indent="-213360" lvl="2">
              <a:lnSpc>
                <a:spcPts val="2879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inventory-to-checkout flow works end-to-end; testing and deployment still in progress</a:t>
            </a:r>
          </a:p>
        </p:txBody>
      </p:sp>
      <p:sp>
        <p:nvSpPr>
          <p:cNvPr name="AutoShape 7" id="7"/>
          <p:cNvSpPr/>
          <p:nvPr/>
        </p:nvSpPr>
        <p:spPr>
          <a:xfrm>
            <a:off x="-299708" y="10201275"/>
            <a:ext cx="18887417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17692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8061305" y="9959140"/>
            <a:ext cx="1352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55440" y="9909534"/>
            <a:ext cx="1341120" cy="25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‹#›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61312" y="304486"/>
            <a:ext cx="14084160" cy="831880"/>
            <a:chOff x="0" y="0"/>
            <a:chExt cx="18778880" cy="11091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778880" cy="1109168"/>
            </a:xfrm>
            <a:custGeom>
              <a:avLst/>
              <a:gdLst/>
              <a:ahLst/>
              <a:cxnLst/>
              <a:rect r="r" b="b" t="t" l="l"/>
              <a:pathLst>
                <a:path h="1109168" w="18778880">
                  <a:moveTo>
                    <a:pt x="0" y="0"/>
                  </a:moveTo>
                  <a:lnTo>
                    <a:pt x="18778880" y="0"/>
                  </a:lnTo>
                  <a:lnTo>
                    <a:pt x="18778880" y="1109168"/>
                  </a:lnTo>
                  <a:lnTo>
                    <a:pt x="0" y="11091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2" r="0" b="-27989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8778880" cy="113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Tools and Technologies Used </a:t>
              </a: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361312" y="1644009"/>
          <a:ext cx="17647939" cy="8137218"/>
        </p:xfrm>
        <a:graphic>
          <a:graphicData uri="http://schemas.openxmlformats.org/drawingml/2006/table">
            <a:tbl>
              <a:tblPr/>
              <a:tblGrid>
                <a:gridCol w="4402198"/>
                <a:gridCol w="5777885"/>
                <a:gridCol w="7467855"/>
              </a:tblGrid>
              <a:tr h="7312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Technology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7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Purpose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7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Current Usage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78"/>
                    </a:solidFill>
                  </a:tcPr>
                </a:tc>
              </a:tr>
              <a:tr h="11436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PHP 8 (native, PDO)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Backend framework &amp; business logic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Powers checkout, cart, and JSON API endpoints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2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MySQL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Relational database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Stores products, inventory, orders, users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6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HTML / CSS / JS/ Figma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Frontend structure &amp; interactivity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 pages: dashboard, inventory, products, POS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2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XAMPP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Local Apache + MySQL server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Local development environment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2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phpMyAdmin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 administration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Schema management &amp; query testing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2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GitHub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 control &amp; collaboration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 code hosting and team collaboration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2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MySQL Server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Production database server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Using both through Xampp and In VPS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2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Apache Web Server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Serves PHP pages and APIs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Used locally via XAMPP and in VPS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2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Ubuntu VPS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Deployment target server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currently hosted at stocksmart.live domain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7" id="7"/>
          <p:cNvSpPr/>
          <p:nvPr/>
        </p:nvSpPr>
        <p:spPr>
          <a:xfrm>
            <a:off x="-299708" y="10201275"/>
            <a:ext cx="18887417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17692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7993742" y="9996487"/>
            <a:ext cx="1352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55440" y="9909534"/>
            <a:ext cx="1341120" cy="25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‹#›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61312" y="304486"/>
            <a:ext cx="14084160" cy="831880"/>
            <a:chOff x="0" y="0"/>
            <a:chExt cx="18778880" cy="11091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778880" cy="1109168"/>
            </a:xfrm>
            <a:custGeom>
              <a:avLst/>
              <a:gdLst/>
              <a:ahLst/>
              <a:cxnLst/>
              <a:rect r="r" b="b" t="t" l="l"/>
              <a:pathLst>
                <a:path h="1109168" w="18778880">
                  <a:moveTo>
                    <a:pt x="0" y="0"/>
                  </a:moveTo>
                  <a:lnTo>
                    <a:pt x="18778880" y="0"/>
                  </a:lnTo>
                  <a:lnTo>
                    <a:pt x="18778880" y="1109168"/>
                  </a:lnTo>
                  <a:lnTo>
                    <a:pt x="0" y="11091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2" r="0" b="-27989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8778880" cy="113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Gantt Chart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1047" y="2534228"/>
            <a:ext cx="466706" cy="466706"/>
            <a:chOff x="0" y="0"/>
            <a:chExt cx="622275" cy="622275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0"/>
                  </a:moveTo>
                  <a:lnTo>
                    <a:pt x="622300" y="0"/>
                  </a:lnTo>
                  <a:lnTo>
                    <a:pt x="622300" y="622300"/>
                  </a:lnTo>
                  <a:lnTo>
                    <a:pt x="0" y="62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4" b="4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05863" y="1558205"/>
            <a:ext cx="15288002" cy="8561281"/>
          </a:xfrm>
          <a:custGeom>
            <a:avLst/>
            <a:gdLst/>
            <a:ahLst/>
            <a:cxnLst/>
            <a:rect r="r" b="b" t="t" l="l"/>
            <a:pathLst>
              <a:path h="8561281" w="15288002">
                <a:moveTo>
                  <a:pt x="0" y="0"/>
                </a:moveTo>
                <a:lnTo>
                  <a:pt x="15288002" y="0"/>
                </a:lnTo>
                <a:lnTo>
                  <a:pt x="15288002" y="8561281"/>
                </a:lnTo>
                <a:lnTo>
                  <a:pt x="0" y="85612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-299708" y="10201275"/>
            <a:ext cx="18887417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517692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7993742" y="9996487"/>
            <a:ext cx="1352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55440" y="9909534"/>
            <a:ext cx="1341120" cy="25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‹#›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61312" y="304486"/>
            <a:ext cx="14084160" cy="831880"/>
            <a:chOff x="0" y="0"/>
            <a:chExt cx="18778880" cy="11091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778880" cy="1109168"/>
            </a:xfrm>
            <a:custGeom>
              <a:avLst/>
              <a:gdLst/>
              <a:ahLst/>
              <a:cxnLst/>
              <a:rect r="r" b="b" t="t" l="l"/>
              <a:pathLst>
                <a:path h="1109168" w="18778880">
                  <a:moveTo>
                    <a:pt x="0" y="0"/>
                  </a:moveTo>
                  <a:lnTo>
                    <a:pt x="18778880" y="0"/>
                  </a:lnTo>
                  <a:lnTo>
                    <a:pt x="18778880" y="1109168"/>
                  </a:lnTo>
                  <a:lnTo>
                    <a:pt x="0" y="11091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2" r="0" b="-27989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8778880" cy="113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Current Achievements 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67306" y="1873387"/>
            <a:ext cx="17353397" cy="560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Homepage — Done</a:t>
            </a:r>
          </a:p>
          <a:p>
            <a:pPr algn="l" marL="750725" indent="-250242" lvl="2">
              <a:lnSpc>
                <a:spcPts val="2880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homepage.html: static landing page introducing StockSmart to visitors</a:t>
            </a:r>
          </a:p>
          <a:p>
            <a:pPr algn="l">
              <a:lnSpc>
                <a:spcPts val="3359"/>
              </a:lnSpc>
            </a:pPr>
          </a:p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Products Module — Done</a:t>
            </a:r>
          </a:p>
          <a:p>
            <a:pPr algn="l" marL="750725" indent="-250242" lvl="2">
              <a:lnSpc>
                <a:spcPts val="2880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products.php: CRUD JSON API over products + inventory; products.html performs add/edit/delete via fetch()</a:t>
            </a:r>
          </a:p>
          <a:p>
            <a:pPr algn="l">
              <a:lnSpc>
                <a:spcPts val="3359"/>
              </a:lnSpc>
            </a:pPr>
          </a:p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Inventory Module — Done</a:t>
            </a:r>
          </a:p>
          <a:p>
            <a:pPr algn="l" marL="750725" indent="-250242" lvl="2">
              <a:lnSpc>
                <a:spcPts val="2880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inventory.php: per-warehouse stock, reserved/available quantities, stock-status counts, and activity feed</a:t>
            </a:r>
          </a:p>
          <a:p>
            <a:pPr algn="l">
              <a:lnSpc>
                <a:spcPts val="3359"/>
              </a:lnSpc>
            </a:pPr>
          </a:p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Dashboard Module — Done</a:t>
            </a:r>
          </a:p>
          <a:p>
            <a:pPr algn="l" marL="750725" indent="-250242" lvl="2">
              <a:lnSpc>
                <a:spcPts val="2880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dashboard.php: weekly sales, low-stock/expiry alerts</a:t>
            </a:r>
          </a:p>
          <a:p>
            <a:pPr algn="l">
              <a:lnSpc>
                <a:spcPts val="3359"/>
              </a:lnSpc>
            </a:pPr>
          </a:p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POS / Checkout Module — Done</a:t>
            </a:r>
          </a:p>
          <a:p>
            <a:pPr algn="l" marL="750865" indent="-250288" lvl="2">
              <a:lnSpc>
                <a:spcPts val="2880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checkout.php: session cart, discounts, order saved to orders/order_items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17692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-299708" y="10201275"/>
            <a:ext cx="18887417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7993742" y="9996487"/>
            <a:ext cx="1352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55440" y="9909534"/>
            <a:ext cx="1341120" cy="25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‹#›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140072" y="4911461"/>
            <a:ext cx="5256399" cy="831880"/>
            <a:chOff x="0" y="0"/>
            <a:chExt cx="7008532" cy="11091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008532" cy="1109168"/>
            </a:xfrm>
            <a:custGeom>
              <a:avLst/>
              <a:gdLst/>
              <a:ahLst/>
              <a:cxnLst/>
              <a:rect r="r" b="b" t="t" l="l"/>
              <a:pathLst>
                <a:path h="1109168" w="7008532">
                  <a:moveTo>
                    <a:pt x="0" y="0"/>
                  </a:moveTo>
                  <a:lnTo>
                    <a:pt x="7008532" y="0"/>
                  </a:lnTo>
                  <a:lnTo>
                    <a:pt x="7008532" y="1109168"/>
                  </a:lnTo>
                  <a:lnTo>
                    <a:pt x="0" y="11091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2" r="-167943" b="-27989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7008532" cy="113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Live Demo 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-299708" y="10201275"/>
            <a:ext cx="18887417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517692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7993742" y="9996487"/>
            <a:ext cx="1352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55440" y="9909534"/>
            <a:ext cx="1341120" cy="25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‹#›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61312" y="304486"/>
            <a:ext cx="14084160" cy="831880"/>
            <a:chOff x="0" y="0"/>
            <a:chExt cx="18778880" cy="11091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778880" cy="1109168"/>
            </a:xfrm>
            <a:custGeom>
              <a:avLst/>
              <a:gdLst/>
              <a:ahLst/>
              <a:cxnLst/>
              <a:rect r="r" b="b" t="t" l="l"/>
              <a:pathLst>
                <a:path h="1109168" w="18778880">
                  <a:moveTo>
                    <a:pt x="0" y="0"/>
                  </a:moveTo>
                  <a:lnTo>
                    <a:pt x="18778880" y="0"/>
                  </a:lnTo>
                  <a:lnTo>
                    <a:pt x="18778880" y="1109168"/>
                  </a:lnTo>
                  <a:lnTo>
                    <a:pt x="0" y="11091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2" r="0" b="-27989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8778880" cy="113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Future Work Before End-Term Defense 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67306" y="1873387"/>
            <a:ext cx="17353397" cy="403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Remaining Tasks:</a:t>
            </a:r>
          </a:p>
          <a:p>
            <a:pPr algn="l" marL="640082" indent="-213361" lvl="2">
              <a:lnSpc>
                <a:spcPts val="2880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 login &amp; role-based access control; complete unit &amp; integration testing; fix identified bugs</a:t>
            </a:r>
          </a:p>
          <a:p>
            <a:pPr algn="l">
              <a:lnSpc>
                <a:spcPts val="3359"/>
              </a:lnSpc>
            </a:pPr>
          </a:p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Testing Plan:</a:t>
            </a:r>
          </a:p>
          <a:p>
            <a:pPr algn="l" marL="640082" indent="-213361" lvl="2">
              <a:lnSpc>
                <a:spcPts val="2880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testing of all modules + user acceptance testing with sample SME data</a:t>
            </a:r>
          </a:p>
          <a:p>
            <a:pPr algn="l">
              <a:lnSpc>
                <a:spcPts val="3359"/>
              </a:lnSpc>
            </a:pPr>
          </a:p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Documentation Plan:</a:t>
            </a:r>
          </a:p>
          <a:p>
            <a:pPr algn="l" marL="640082" indent="-213361" lvl="2">
              <a:lnSpc>
                <a:spcPts val="2880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Finalize SRS, ER diagrams, user manual, and final report</a:t>
            </a:r>
          </a:p>
          <a:p>
            <a:pPr algn="l">
              <a:lnSpc>
                <a:spcPts val="3359"/>
              </a:lnSpc>
            </a:pPr>
          </a:p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Timeline: 2 weeks testing, 1 week deployment, 1 week documentation before End-Term Defense</a:t>
            </a:r>
          </a:p>
        </p:txBody>
      </p:sp>
      <p:sp>
        <p:nvSpPr>
          <p:cNvPr name="AutoShape 7" id="7"/>
          <p:cNvSpPr/>
          <p:nvPr/>
        </p:nvSpPr>
        <p:spPr>
          <a:xfrm>
            <a:off x="-299708" y="10201275"/>
            <a:ext cx="18887417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17692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7926174" y="9996487"/>
            <a:ext cx="27039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55440" y="9909534"/>
            <a:ext cx="1341120" cy="25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‹#›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304486"/>
            <a:ext cx="14084160" cy="831880"/>
            <a:chOff x="0" y="0"/>
            <a:chExt cx="18778880" cy="11091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778880" cy="1109168"/>
            </a:xfrm>
            <a:custGeom>
              <a:avLst/>
              <a:gdLst/>
              <a:ahLst/>
              <a:cxnLst/>
              <a:rect r="r" b="b" t="t" l="l"/>
              <a:pathLst>
                <a:path h="1109168" w="18778880">
                  <a:moveTo>
                    <a:pt x="0" y="0"/>
                  </a:moveTo>
                  <a:lnTo>
                    <a:pt x="18778880" y="0"/>
                  </a:lnTo>
                  <a:lnTo>
                    <a:pt x="18778880" y="1109168"/>
                  </a:lnTo>
                  <a:lnTo>
                    <a:pt x="0" y="11091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2" r="0" b="-27989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8778880" cy="113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 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67306" y="1873387"/>
            <a:ext cx="17353397" cy="308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Current Progress:</a:t>
            </a:r>
          </a:p>
          <a:p>
            <a:pPr algn="l" marL="640080" indent="-213360" lvl="2">
              <a:lnSpc>
                <a:spcPts val="2879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~60% complete; Homepage, Products, Inventory, Dashboard, and POS Checkout modules functional</a:t>
            </a:r>
          </a:p>
          <a:p>
            <a:pPr algn="l">
              <a:lnSpc>
                <a:spcPts val="2879"/>
              </a:lnSpc>
            </a:pPr>
          </a:p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Objectives Achieved:</a:t>
            </a:r>
          </a:p>
          <a:p>
            <a:pPr algn="l" marL="640082" indent="-213361" lvl="2">
              <a:lnSpc>
                <a:spcPts val="2880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Centralized inventory tracking, low-stock alerts, and a simple affordable design — core objectives largely met</a:t>
            </a:r>
          </a:p>
          <a:p>
            <a:pPr algn="l">
              <a:lnSpc>
                <a:spcPts val="2880"/>
              </a:lnSpc>
            </a:pPr>
          </a:p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Readiness for End-Term Defense:</a:t>
            </a:r>
          </a:p>
          <a:p>
            <a:pPr algn="l" marL="640082" indent="-213361" lvl="2">
              <a:lnSpc>
                <a:spcPts val="2880"/>
              </a:lnSpc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inventory/POS flow is demo-ready; authentication integration, testing, and deployment remain before final defense</a:t>
            </a:r>
          </a:p>
        </p:txBody>
      </p:sp>
      <p:sp>
        <p:nvSpPr>
          <p:cNvPr name="AutoShape 7" id="7"/>
          <p:cNvSpPr/>
          <p:nvPr/>
        </p:nvSpPr>
        <p:spPr>
          <a:xfrm>
            <a:off x="-299708" y="10201275"/>
            <a:ext cx="18887417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17692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7926174" y="9996487"/>
            <a:ext cx="27039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55440" y="9909534"/>
            <a:ext cx="1341120" cy="25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‹#›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115807" y="3010147"/>
            <a:ext cx="12821155" cy="4266706"/>
            <a:chOff x="0" y="0"/>
            <a:chExt cx="4392899" cy="14618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92899" cy="1461889"/>
            </a:xfrm>
            <a:custGeom>
              <a:avLst/>
              <a:gdLst/>
              <a:ahLst/>
              <a:cxnLst/>
              <a:rect r="r" b="b" t="t" l="l"/>
              <a:pathLst>
                <a:path h="1461889" w="4392899">
                  <a:moveTo>
                    <a:pt x="0" y="0"/>
                  </a:moveTo>
                  <a:lnTo>
                    <a:pt x="4392899" y="0"/>
                  </a:lnTo>
                  <a:lnTo>
                    <a:pt x="4392899" y="1461889"/>
                  </a:lnTo>
                  <a:lnTo>
                    <a:pt x="0" y="14618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2360" r="-327482" b="-18823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392899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Thank You!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-299708" y="10201275"/>
            <a:ext cx="18887417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515787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-1905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7926174" y="9996487"/>
            <a:ext cx="27039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DAHNN3QWeRw</dc:identifier>
  <dcterms:modified xsi:type="dcterms:W3CDTF">2011-08-01T06:04:30Z</dcterms:modified>
  <cp:revision>1</cp:revision>
  <dc:title>Three-Tier Web Application</dc:title>
</cp:coreProperties>
</file>